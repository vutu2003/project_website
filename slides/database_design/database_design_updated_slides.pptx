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572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43440"/>
                </a:solidFill>
                <a:latin typeface="Times New Roman"/>
              </a:rPr>
              <a:t>VAI TRÒ CỦA CƠ SỞ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13816"/>
            <a:ext cx="1042416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E6C74"/>
                </a:solidFill>
                <a:latin typeface="Times New Roman"/>
              </a:rPr>
              <a:t>Database as workflow memory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88720"/>
            <a:ext cx="11064240" cy="0"/>
          </a:xfrm>
          <a:prstGeom prst="line">
            <a:avLst/>
          </a:prstGeom>
          <a:ln w="12700">
            <a:solidFill>
              <a:srgbClr val="D1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519672"/>
            <a:ext cx="11064240" cy="0"/>
          </a:xfrm>
          <a:prstGeom prst="line">
            <a:avLst/>
          </a:prstGeom>
          <a:ln w="10160">
            <a:solidFill>
              <a:srgbClr val="D1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74536"/>
            <a:ext cx="841248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C74"/>
                </a:solidFill>
                <a:latin typeface="Times New Roman"/>
              </a:rPr>
              <a:t>MEDICAL EQUIPMENT MAINTENANCE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92" y="6565392"/>
            <a:ext cx="941832" cy="1737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6069"/>
                </a:solidFill>
                <a:latin typeface="Times New Roman"/>
              </a:rPr>
              <a:t>01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2708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3440"/>
                </a:solidFill>
                <a:latin typeface="Times New Roman"/>
              </a:rPr>
              <a:t>CSDL liên kết thiết bị, công việc và bằng chứng qua từng đợt bảo trì.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212848"/>
            <a:ext cx="168249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459736"/>
            <a:ext cx="1536192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43440"/>
                </a:solidFill>
                <a:latin typeface="Times New Roman"/>
              </a:rPr>
              <a:t>Thiết bị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898648"/>
            <a:ext cx="1536192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C74"/>
                </a:solidFill>
                <a:latin typeface="Times New Roman"/>
              </a:rPr>
              <a:t>equipment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95144" y="2807208"/>
            <a:ext cx="91440" cy="0"/>
          </a:xfrm>
          <a:prstGeom prst="line">
            <a:avLst/>
          </a:prstGeom>
          <a:ln w="21590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340864" y="2633472"/>
            <a:ext cx="22860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747B"/>
                </a:solidFill>
                <a:latin typeface="Times New Roman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78024" y="2212848"/>
            <a:ext cx="1682496" cy="1188720"/>
          </a:xfrm>
          <a:prstGeom prst="roundRect">
            <a:avLst>
              <a:gd name="adj" fmla="val 8000"/>
            </a:avLst>
          </a:prstGeom>
          <a:solidFill>
            <a:srgbClr val="F2FAFA"/>
          </a:solidFill>
          <a:ln w="9525">
            <a:solidFill>
              <a:srgbClr val="0F7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51176" y="2459736"/>
            <a:ext cx="1536192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43440"/>
                </a:solidFill>
                <a:latin typeface="Times New Roman"/>
              </a:rPr>
              <a:t>Kế hoạch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1176" y="2898648"/>
            <a:ext cx="1536192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C74"/>
                </a:solidFill>
                <a:latin typeface="Times New Roman"/>
              </a:rPr>
              <a:t>plan / item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69664" y="2807208"/>
            <a:ext cx="91440" cy="0"/>
          </a:xfrm>
          <a:prstGeom prst="line">
            <a:avLst/>
          </a:prstGeom>
          <a:ln w="21590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15384" y="2633472"/>
            <a:ext cx="22860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747B"/>
                </a:solidFill>
                <a:latin typeface="Times New Roman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2544" y="2212848"/>
            <a:ext cx="168249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25696" y="2459736"/>
            <a:ext cx="1536192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43440"/>
                </a:solidFill>
                <a:latin typeface="Times New Roman"/>
              </a:rPr>
              <a:t>Thực hiện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5696" y="2898648"/>
            <a:ext cx="1536192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C74"/>
                </a:solidFill>
                <a:latin typeface="Times New Roman"/>
              </a:rPr>
              <a:t>execution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44183" y="2807208"/>
            <a:ext cx="91440" cy="0"/>
          </a:xfrm>
          <a:prstGeom prst="line">
            <a:avLst/>
          </a:prstGeom>
          <a:ln w="21590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89903" y="2633472"/>
            <a:ext cx="22860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747B"/>
                </a:solidFill>
                <a:latin typeface="Times New Roman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7064" y="2212848"/>
            <a:ext cx="168249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0216" y="2459736"/>
            <a:ext cx="1536192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43440"/>
                </a:solidFill>
                <a:latin typeface="Times New Roman"/>
              </a:rPr>
              <a:t>Nghiệm thu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2898648"/>
            <a:ext cx="1536192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C74"/>
                </a:solidFill>
                <a:latin typeface="Times New Roman"/>
              </a:rPr>
              <a:t>acceptance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18704" y="2807208"/>
            <a:ext cx="91440" cy="0"/>
          </a:xfrm>
          <a:prstGeom prst="line">
            <a:avLst/>
          </a:prstGeom>
          <a:ln w="21590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964423" y="2633472"/>
            <a:ext cx="22860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747B"/>
                </a:solidFill>
                <a:latin typeface="Times New Roman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1583" y="2212848"/>
            <a:ext cx="168249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74736" y="2459736"/>
            <a:ext cx="1536192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43440"/>
                </a:solidFill>
                <a:latin typeface="Times New Roman"/>
              </a:rPr>
              <a:t>Báo cáo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4736" y="2898648"/>
            <a:ext cx="1536192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C74"/>
                </a:solidFill>
                <a:latin typeface="Times New Roman"/>
              </a:rPr>
              <a:t>report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793224" y="2807208"/>
            <a:ext cx="91439" cy="0"/>
          </a:xfrm>
          <a:prstGeom prst="line">
            <a:avLst/>
          </a:prstGeom>
          <a:ln w="21590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838943" y="2633472"/>
            <a:ext cx="22860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747B"/>
                </a:solidFill>
                <a:latin typeface="Times New Roman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76104" y="2212848"/>
            <a:ext cx="1682496" cy="1188720"/>
          </a:xfrm>
          <a:prstGeom prst="roundRect">
            <a:avLst>
              <a:gd name="adj" fmla="val 8000"/>
            </a:avLst>
          </a:prstGeom>
          <a:solidFill>
            <a:srgbClr val="F2FAFA"/>
          </a:solidFill>
          <a:ln w="9525">
            <a:solidFill>
              <a:srgbClr val="0F7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49256" y="2459736"/>
            <a:ext cx="1536192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43440"/>
                </a:solidFill>
                <a:latin typeface="Times New Roman"/>
              </a:rPr>
              <a:t>Lịch sử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9256" y="2898648"/>
            <a:ext cx="1536192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C74"/>
                </a:solidFill>
                <a:latin typeface="Times New Roman"/>
              </a:rPr>
              <a:t>history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" y="3977639"/>
            <a:ext cx="5422392" cy="1261872"/>
          </a:xfrm>
          <a:prstGeom prst="roundRect">
            <a:avLst>
              <a:gd name="adj" fmla="val 8000"/>
            </a:avLst>
          </a:prstGeom>
          <a:solidFill>
            <a:srgbClr val="F2FAFA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" y="4160520"/>
            <a:ext cx="5010912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86069"/>
                </a:solidFill>
                <a:latin typeface="Times New Roman"/>
              </a:rPr>
              <a:t>HIỆN TẠI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" y="4562856"/>
            <a:ext cx="5010912" cy="47548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43440"/>
                </a:solidFill>
                <a:latin typeface="Times New Roman"/>
              </a:rPr>
              <a:t>Trạng thái trên kế hoạch và từng thiết bị.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63056" y="3977639"/>
            <a:ext cx="5404104" cy="1261872"/>
          </a:xfrm>
          <a:prstGeom prst="roundRect">
            <a:avLst>
              <a:gd name="adj" fmla="val 8000"/>
            </a:avLst>
          </a:prstGeom>
          <a:solidFill>
            <a:srgbClr val="F2FAFA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73368" y="4160520"/>
            <a:ext cx="5010912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86069"/>
                </a:solidFill>
                <a:latin typeface="Times New Roman"/>
              </a:rPr>
              <a:t>QUÁ KHỨ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4562856"/>
            <a:ext cx="5010912" cy="47548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43440"/>
                </a:solidFill>
                <a:latin typeface="Times New Roman"/>
              </a:rPr>
              <a:t>Các lần duyệt, thực hiện, nghiệm thu và chuyển trạng thái.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" y="5696712"/>
            <a:ext cx="10881360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E6C74"/>
                </a:solidFill>
                <a:latin typeface="Times New Roman"/>
              </a:rPr>
              <a:t>Phạm vi V1: bảo trì. REPAIR_REQUIRED là điểm bàn giao sang quy trình sửa chữa sau này.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572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43440"/>
                </a:solidFill>
                <a:latin typeface="Times New Roman"/>
              </a:rPr>
              <a:t>TỪ BIỂU MẪU ĐẾN MÔ HÌNH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13816"/>
            <a:ext cx="1042416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E6C74"/>
                </a:solidFill>
                <a:latin typeface="Times New Roman"/>
              </a:rPr>
              <a:t>Business forms to data entities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88720"/>
            <a:ext cx="11064240" cy="0"/>
          </a:xfrm>
          <a:prstGeom prst="line">
            <a:avLst/>
          </a:prstGeom>
          <a:ln w="12700">
            <a:solidFill>
              <a:srgbClr val="D1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519672"/>
            <a:ext cx="11064240" cy="0"/>
          </a:xfrm>
          <a:prstGeom prst="line">
            <a:avLst/>
          </a:prstGeom>
          <a:ln w="10160">
            <a:solidFill>
              <a:srgbClr val="D1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74536"/>
            <a:ext cx="841248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C74"/>
                </a:solidFill>
                <a:latin typeface="Times New Roman"/>
              </a:rPr>
              <a:t>MEDICAL EQUIPMENT MAINTENANCE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92" y="6565392"/>
            <a:ext cx="941832" cy="1737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6069"/>
                </a:solidFill>
                <a:latin typeface="Times New Roman"/>
              </a:rPr>
              <a:t>02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2708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3440"/>
                </a:solidFill>
                <a:latin typeface="Times New Roman"/>
              </a:rPr>
              <a:t>Biểu mẫu cho biết thông tin cần lưu; use case xác định vòng đời và quan hệ.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2039112"/>
            <a:ext cx="10844784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" y="2148840"/>
            <a:ext cx="1298448" cy="438912"/>
          </a:xfrm>
          <a:prstGeom prst="roundRect">
            <a:avLst>
              <a:gd name="adj" fmla="val 8000"/>
            </a:avLst>
          </a:prstGeom>
          <a:solidFill>
            <a:srgbClr val="F2FAFA"/>
          </a:solidFill>
          <a:ln w="9525">
            <a:solidFill>
              <a:srgbClr val="0F7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185416"/>
            <a:ext cx="1188720" cy="3383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86069"/>
                </a:solidFill>
                <a:latin typeface="Times New Roman"/>
              </a:rPr>
              <a:t>BM01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212848"/>
            <a:ext cx="2944368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43440"/>
                </a:solidFill>
                <a:latin typeface="Times New Roman"/>
              </a:rPr>
              <a:t>Kế hoạch / lịch bảo trì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194560"/>
            <a:ext cx="5806440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3440"/>
                </a:solidFill>
                <a:latin typeface="Times New Roman"/>
              </a:rPr>
              <a:t>maintenance_plan · maintenance_plan_item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" y="2880360"/>
            <a:ext cx="10844784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90088"/>
            <a:ext cx="1298448" cy="438912"/>
          </a:xfrm>
          <a:prstGeom prst="roundRect">
            <a:avLst>
              <a:gd name="adj" fmla="val 8000"/>
            </a:avLst>
          </a:prstGeom>
          <a:solidFill>
            <a:srgbClr val="F2FAFA"/>
          </a:solidFill>
          <a:ln w="9525">
            <a:solidFill>
              <a:srgbClr val="0F7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026664"/>
            <a:ext cx="1188720" cy="3383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86069"/>
                </a:solidFill>
                <a:latin typeface="Times New Roman"/>
              </a:rPr>
              <a:t>BM02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054096"/>
            <a:ext cx="2944368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43440"/>
                </a:solidFill>
                <a:latin typeface="Times New Roman"/>
              </a:rPr>
              <a:t>Chọn đơn vị ngoài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035808"/>
            <a:ext cx="5806440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3440"/>
                </a:solidFill>
                <a:latin typeface="Times New Roman"/>
              </a:rPr>
              <a:t>maintenance_coverage · approval_request · approval_action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" y="3721608"/>
            <a:ext cx="10844784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" y="3831336"/>
            <a:ext cx="1298448" cy="438912"/>
          </a:xfrm>
          <a:prstGeom prst="roundRect">
            <a:avLst>
              <a:gd name="adj" fmla="val 8000"/>
            </a:avLst>
          </a:prstGeom>
          <a:solidFill>
            <a:srgbClr val="F2FAFA"/>
          </a:solidFill>
          <a:ln w="9525">
            <a:solidFill>
              <a:srgbClr val="0F7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867912"/>
            <a:ext cx="1188720" cy="3383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86069"/>
                </a:solidFill>
                <a:latin typeface="Times New Roman"/>
              </a:rPr>
              <a:t>BM03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895344"/>
            <a:ext cx="2944368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43440"/>
                </a:solidFill>
                <a:latin typeface="Times New Roman"/>
              </a:rPr>
              <a:t>Báo cáo kết quả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877056"/>
            <a:ext cx="5806440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3440"/>
                </a:solidFill>
                <a:latin typeface="Times New Roman"/>
              </a:rPr>
              <a:t>maintenance_report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" y="4562856"/>
            <a:ext cx="10844784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" y="4672584"/>
            <a:ext cx="1298448" cy="438912"/>
          </a:xfrm>
          <a:prstGeom prst="roundRect">
            <a:avLst>
              <a:gd name="adj" fmla="val 8000"/>
            </a:avLst>
          </a:prstGeom>
          <a:solidFill>
            <a:srgbClr val="F2FAFA"/>
          </a:solidFill>
          <a:ln w="9525">
            <a:solidFill>
              <a:srgbClr val="0F7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709160"/>
            <a:ext cx="1188720" cy="3383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86069"/>
                </a:solidFill>
                <a:latin typeface="Times New Roman"/>
              </a:rPr>
              <a:t>BM06 / BM08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4736592"/>
            <a:ext cx="2944368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43440"/>
                </a:solidFill>
                <a:latin typeface="Times New Roman"/>
              </a:rPr>
              <a:t>Nghiệm thu / bàn giao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718304"/>
            <a:ext cx="5806440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3440"/>
                </a:solidFill>
                <a:latin typeface="Times New Roman"/>
              </a:rPr>
              <a:t>acceptance_record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669280"/>
            <a:ext cx="10607040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E6C74"/>
                </a:solidFill>
                <a:latin typeface="Times New Roman"/>
              </a:rPr>
              <a:t>Một biểu mẫu có thể đóng góp dữ liệu cho nhiều bảng; một bảng có thể phục vụ nhiều biểu mẫu.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572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43440"/>
                </a:solidFill>
                <a:latin typeface="Times New Roman"/>
              </a:rPr>
              <a:t>VÌ SAO KHÔNG MỖI BIỂU MẪU MỘT BẢNG?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13816"/>
            <a:ext cx="1042416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E6C74"/>
                </a:solidFill>
                <a:latin typeface="Times New Roman"/>
              </a:rPr>
              <a:t>Entity-based design and history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88720"/>
            <a:ext cx="11064240" cy="0"/>
          </a:xfrm>
          <a:prstGeom prst="line">
            <a:avLst/>
          </a:prstGeom>
          <a:ln w="12700">
            <a:solidFill>
              <a:srgbClr val="D1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519672"/>
            <a:ext cx="11064240" cy="0"/>
          </a:xfrm>
          <a:prstGeom prst="line">
            <a:avLst/>
          </a:prstGeom>
          <a:ln w="10160">
            <a:solidFill>
              <a:srgbClr val="D1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74536"/>
            <a:ext cx="841248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C74"/>
                </a:solidFill>
                <a:latin typeface="Times New Roman"/>
              </a:rPr>
              <a:t>MEDICAL EQUIPMENT MAINTENANCE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92" y="6565392"/>
            <a:ext cx="941832" cy="1737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6069"/>
                </a:solidFill>
                <a:latin typeface="Times New Roman"/>
              </a:rPr>
              <a:t>03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2708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3440"/>
                </a:solidFill>
                <a:latin typeface="Times New Roman"/>
              </a:rPr>
              <a:t>Một thiết bị đi qua nhiều kế hoạch và nhiều lần xử lý; dữ liệu cần có danh tính riêng.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66543"/>
            <a:ext cx="5212080" cy="3172968"/>
          </a:xfrm>
          <a:prstGeom prst="roundRect">
            <a:avLst>
              <a:gd name="adj" fmla="val 8000"/>
            </a:avLst>
          </a:prstGeom>
          <a:solidFill>
            <a:srgbClr val="F5F8F9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76856"/>
            <a:ext cx="466344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E6C74"/>
                </a:solidFill>
                <a:latin typeface="Times New Roman"/>
              </a:rPr>
              <a:t>SAO CHÉP THEO BIỂU MẪU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23544" y="2697480"/>
            <a:ext cx="4608576" cy="0"/>
          </a:xfrm>
          <a:prstGeom prst="line">
            <a:avLst/>
          </a:prstGeom>
          <a:ln w="8890">
            <a:solidFill>
              <a:srgbClr val="D1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23544" y="2944368"/>
            <a:ext cx="4608576" cy="4114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43440"/>
                </a:solidFill>
                <a:latin typeface="Times New Roman"/>
              </a:rPr>
              <a:t>BM01: tên thiết bị + kế hoạch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557016"/>
            <a:ext cx="4608576" cy="4114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43440"/>
                </a:solidFill>
                <a:latin typeface="Times New Roman"/>
              </a:rPr>
              <a:t>BM06: lặp lại tên thiết bị + kết quả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4169663"/>
            <a:ext cx="4608576" cy="4114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43440"/>
                </a:solidFill>
                <a:latin typeface="Times New Roman"/>
              </a:rPr>
              <a:t>BM08: lặp lại tên thiết bị + bàn giao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4727448"/>
            <a:ext cx="4608576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E6C74"/>
                </a:solidFill>
                <a:latin typeface="Times New Roman"/>
              </a:rPr>
              <a:t>Trùng dữ liệu; khó nối lịch sử theo thiết bị.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066543"/>
            <a:ext cx="5404104" cy="3172968"/>
          </a:xfrm>
          <a:prstGeom prst="roundRect">
            <a:avLst>
              <a:gd name="adj" fmla="val 8000"/>
            </a:avLst>
          </a:prstGeom>
          <a:solidFill>
            <a:srgbClr val="F2FAFA"/>
          </a:solidFill>
          <a:ln w="9525">
            <a:solidFill>
              <a:srgbClr val="0F7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276856"/>
            <a:ext cx="4928616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86069"/>
                </a:solidFill>
                <a:latin typeface="Times New Roman"/>
              </a:rPr>
              <a:t>TÁCH THEO THỰC THỂ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91656" y="2697480"/>
            <a:ext cx="4846320" cy="0"/>
          </a:xfrm>
          <a:prstGeom prst="line">
            <a:avLst/>
          </a:prstGeom>
          <a:ln w="8890">
            <a:solidFill>
              <a:srgbClr val="D1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19088" y="2971800"/>
            <a:ext cx="4700016" cy="4206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43440"/>
                </a:solidFill>
                <a:latin typeface="Times New Roman"/>
              </a:rPr>
              <a:t>equipment  →  plan_item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621024"/>
            <a:ext cx="4700016" cy="4206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43440"/>
                </a:solidFill>
                <a:latin typeface="Times New Roman"/>
              </a:rPr>
              <a:t>plan_item  →  execution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270248"/>
            <a:ext cx="4700016" cy="4206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43440"/>
                </a:solidFill>
                <a:latin typeface="Times New Roman"/>
              </a:rPr>
              <a:t>execution  →  acceptance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54880"/>
            <a:ext cx="4700016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86069"/>
                </a:solidFill>
                <a:latin typeface="Times New Roman"/>
              </a:rPr>
              <a:t>Giữ khóa liên kết và từng lần xử lý.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696712"/>
            <a:ext cx="10698480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E6C74"/>
                </a:solidFill>
                <a:latin typeface="Times New Roman"/>
              </a:rPr>
              <a:t>PlanItem nối kế hoạch với thiết bị: một thiết bị có thể xuất hiện ở nhiều đợt, mỗi đợt có kết quả riêng.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572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43440"/>
                </a:solidFill>
                <a:latin typeface="Times New Roman"/>
              </a:rPr>
              <a:t>THIẾT KẾ ĐƯỢC CÔ ĐỌNG NHƯ THẾ NÀO?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13816"/>
            <a:ext cx="1042416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E6C74"/>
                </a:solidFill>
                <a:latin typeface="Times New Roman"/>
              </a:rPr>
              <a:t>Design freeze: sufficient V1 scope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88720"/>
            <a:ext cx="11064240" cy="0"/>
          </a:xfrm>
          <a:prstGeom prst="line">
            <a:avLst/>
          </a:prstGeom>
          <a:ln w="12700">
            <a:solidFill>
              <a:srgbClr val="D1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519672"/>
            <a:ext cx="11064240" cy="0"/>
          </a:xfrm>
          <a:prstGeom prst="line">
            <a:avLst/>
          </a:prstGeom>
          <a:ln w="10160">
            <a:solidFill>
              <a:srgbClr val="D1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74536"/>
            <a:ext cx="841248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C74"/>
                </a:solidFill>
                <a:latin typeface="Times New Roman"/>
              </a:rPr>
              <a:t>MEDICAL EQUIPMENT MAINTENANCE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92" y="6565392"/>
            <a:ext cx="941832" cy="1737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6069"/>
                </a:solidFill>
                <a:latin typeface="Times New Roman"/>
              </a:rPr>
              <a:t>04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2708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3440"/>
                </a:solidFill>
                <a:latin typeface="Times New Roman"/>
              </a:rPr>
              <a:t>Audit bỏ cơ chế chưa cần trong V1, giữ các quan hệ phục vụ nghiệp vụ và truy vết.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2157984"/>
            <a:ext cx="3465576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340864"/>
            <a:ext cx="3099816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86069"/>
                </a:solidFill>
                <a:latin typeface="Times New Roman"/>
              </a:rPr>
              <a:t>BẢNG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807208"/>
            <a:ext cx="1005840" cy="5852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5E6C74"/>
                </a:solidFill>
                <a:latin typeface="Times New Roman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816352"/>
            <a:ext cx="749808" cy="5577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747B"/>
                </a:solidFill>
                <a:latin typeface="Times New Roman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5496" y="2798064"/>
            <a:ext cx="987552" cy="5943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43440"/>
                </a:solidFill>
                <a:latin typeface="Times New Roman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602736"/>
            <a:ext cx="281635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C74"/>
                </a:solidFill>
                <a:latin typeface="Times New Roman"/>
              </a:rPr>
              <a:t>ban đầu                  sau freeze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8264" y="2157984"/>
            <a:ext cx="3465576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340864"/>
            <a:ext cx="3099816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86069"/>
                </a:solidFill>
                <a:latin typeface="Times New Roman"/>
              </a:rPr>
              <a:t>KHÓA NGOẠI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807208"/>
            <a:ext cx="1005840" cy="5852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5E6C74"/>
                </a:solidFill>
                <a:latin typeface="Times New Roman"/>
              </a:rPr>
              <a:t>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96712" y="2816352"/>
            <a:ext cx="749808" cy="5577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747B"/>
                </a:solidFill>
                <a:latin typeface="Times New Roman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798064"/>
            <a:ext cx="987552" cy="5943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43440"/>
                </a:solidFill>
                <a:latin typeface="Times New Roman"/>
              </a:rPr>
              <a:t>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602736"/>
            <a:ext cx="281635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C74"/>
                </a:solidFill>
                <a:latin typeface="Times New Roman"/>
              </a:rPr>
              <a:t>ban đầu                  sau freeze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9016" y="2157984"/>
            <a:ext cx="3465576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1896" y="2340864"/>
            <a:ext cx="3099816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86069"/>
                </a:solidFill>
                <a:latin typeface="Times New Roman"/>
              </a:rPr>
              <a:t>CỘT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2807208"/>
            <a:ext cx="1005840" cy="5852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5E6C74"/>
                </a:solidFill>
                <a:latin typeface="Times New Roman"/>
              </a:rPr>
              <a:t>154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7464" y="2816352"/>
            <a:ext cx="749808" cy="5577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747B"/>
                </a:solidFill>
                <a:latin typeface="Times New Roman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2798064"/>
            <a:ext cx="987552" cy="5943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43440"/>
                </a:solidFill>
                <a:latin typeface="Times New Roman"/>
              </a:rPr>
              <a:t>117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9912" y="3602736"/>
            <a:ext cx="281635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C74"/>
                </a:solidFill>
                <a:latin typeface="Times New Roman"/>
              </a:rPr>
              <a:t>ban đầu                  sau freeze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736592"/>
            <a:ext cx="10808208" cy="859536"/>
          </a:xfrm>
          <a:prstGeom prst="roundRect">
            <a:avLst>
              <a:gd name="adj" fmla="val 8000"/>
            </a:avLst>
          </a:prstGeom>
          <a:solidFill>
            <a:srgbClr val="F2FAFA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4901184"/>
            <a:ext cx="10378440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43440"/>
                </a:solidFill>
                <a:latin typeface="Times New Roman"/>
              </a:rPr>
              <a:t>Gộp vendor proposal và assignment vào cấu trúc hiện có; lùi attachment. Giữ Plan/Item, vòng duyệt, lần thực hiện và audit.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572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43440"/>
                </a:solidFill>
                <a:latin typeface="Times New Roman"/>
              </a:rPr>
              <a:t>14 BẢNG THEO 4 NHÓM CHỨC NĂNG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13816"/>
            <a:ext cx="1042416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E6C74"/>
                </a:solidFill>
                <a:latin typeface="Times New Roman"/>
              </a:rPr>
              <a:t>Final entity inventory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88720"/>
            <a:ext cx="11064240" cy="0"/>
          </a:xfrm>
          <a:prstGeom prst="line">
            <a:avLst/>
          </a:prstGeom>
          <a:ln w="12700">
            <a:solidFill>
              <a:srgbClr val="D1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519672"/>
            <a:ext cx="11064240" cy="0"/>
          </a:xfrm>
          <a:prstGeom prst="line">
            <a:avLst/>
          </a:prstGeom>
          <a:ln w="10160">
            <a:solidFill>
              <a:srgbClr val="D1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74536"/>
            <a:ext cx="841248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C74"/>
                </a:solidFill>
                <a:latin typeface="Times New Roman"/>
              </a:rPr>
              <a:t>MEDICAL EQUIPMENT MAINTENANCE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92" y="6565392"/>
            <a:ext cx="941832" cy="1737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6069"/>
                </a:solidFill>
                <a:latin typeface="Times New Roman"/>
              </a:rPr>
              <a:t>05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2708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3440"/>
                </a:solidFill>
                <a:latin typeface="Times New Roman"/>
              </a:rPr>
              <a:t>Nhìn theo vai trò dữ liệu giúp hiểu mô hình trước khi xem các khóa ngoại.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5376672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212848"/>
            <a:ext cx="32004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47B"/>
                </a:solidFill>
                <a:latin typeface="Times New Roman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4663440" cy="3017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43440"/>
                </a:solidFill>
                <a:latin typeface="Times New Roman"/>
              </a:rPr>
              <a:t>MASTER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761488"/>
            <a:ext cx="4956048" cy="7863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3440"/>
                </a:solidFill>
                <a:latin typeface="Times New Roman"/>
              </a:rPr>
              <a:t>department · user_account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3440"/>
                </a:solidFill>
                <a:latin typeface="Times New Roman"/>
              </a:rPr>
              <a:t>equipment · service_provider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2057400"/>
            <a:ext cx="5376672" cy="1600200"/>
          </a:xfrm>
          <a:prstGeom prst="roundRect">
            <a:avLst>
              <a:gd name="adj" fmla="val 8000"/>
            </a:avLst>
          </a:prstGeom>
          <a:solidFill>
            <a:srgbClr val="F2FAFA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2212848"/>
            <a:ext cx="32004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47B"/>
                </a:solidFill>
                <a:latin typeface="Times New Roman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1696" y="2194560"/>
            <a:ext cx="4663440" cy="3017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43440"/>
                </a:solidFill>
                <a:latin typeface="Times New Roman"/>
              </a:rPr>
              <a:t>MAINTENANCE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761488"/>
            <a:ext cx="4956048" cy="7863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3440"/>
                </a:solidFill>
                <a:latin typeface="Times New Roman"/>
              </a:rPr>
              <a:t>maintenance_coverage · maintenance_plan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3440"/>
                </a:solidFill>
                <a:latin typeface="Times New Roman"/>
              </a:rPr>
              <a:t>maintenance_plan_item · maintenance_execution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3440"/>
                </a:solidFill>
                <a:latin typeface="Times New Roman"/>
              </a:rPr>
              <a:t>maintenance_progress_log · acceptance_record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95344"/>
            <a:ext cx="5376672" cy="1600200"/>
          </a:xfrm>
          <a:prstGeom prst="roundRect">
            <a:avLst>
              <a:gd name="adj" fmla="val 8000"/>
            </a:avLst>
          </a:prstGeom>
          <a:solidFill>
            <a:srgbClr val="F2FAFA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050791"/>
            <a:ext cx="32004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47B"/>
                </a:solidFill>
                <a:latin typeface="Times New Roman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032504"/>
            <a:ext cx="4663440" cy="3017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43440"/>
                </a:solidFill>
                <a:latin typeface="Times New Roman"/>
              </a:rPr>
              <a:t>APPROVAL /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4599431"/>
            <a:ext cx="4956048" cy="7863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3440"/>
                </a:solidFill>
                <a:latin typeface="Times New Roman"/>
              </a:rPr>
              <a:t>approval_request · approval_action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3440"/>
                </a:solidFill>
                <a:latin typeface="Times New Roman"/>
              </a:rPr>
              <a:t>status_history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3895344"/>
            <a:ext cx="5376672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4050791"/>
            <a:ext cx="32004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47B"/>
                </a:solidFill>
                <a:latin typeface="Times New Roman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1696" y="4032504"/>
            <a:ext cx="4663440" cy="3017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43440"/>
                </a:solidFill>
                <a:latin typeface="Times New Roman"/>
              </a:rPr>
              <a:t>REPORTING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599431"/>
            <a:ext cx="4956048" cy="7863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3440"/>
                </a:solidFill>
                <a:latin typeface="Times New Roman"/>
              </a:rPr>
              <a:t>maintenance_report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3440"/>
                </a:solidFill>
                <a:latin typeface="Times New Roman"/>
              </a:rPr>
              <a:t>Tổng hợp kết quả theo một kế hoạch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5870448"/>
            <a:ext cx="1078992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E6C74"/>
                </a:solidFill>
                <a:latin typeface="Times New Roman"/>
              </a:rPr>
              <a:t>4 + 6 + 3 + 1 = 14 bảng; mọi bảng đều có vai trò trong V1.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572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43440"/>
                </a:solidFill>
                <a:latin typeface="Times New Roman"/>
              </a:rPr>
              <a:t>ERD TỔNG THỂ SAU DESIGN FREEZE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13816"/>
            <a:ext cx="1042416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E6C74"/>
                </a:solidFill>
                <a:latin typeface="Times New Roman"/>
              </a:rPr>
              <a:t>Simplified final ERD — 14 tables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88720"/>
            <a:ext cx="11064240" cy="0"/>
          </a:xfrm>
          <a:prstGeom prst="line">
            <a:avLst/>
          </a:prstGeom>
          <a:ln w="12700">
            <a:solidFill>
              <a:srgbClr val="D1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519672"/>
            <a:ext cx="11064240" cy="0"/>
          </a:xfrm>
          <a:prstGeom prst="line">
            <a:avLst/>
          </a:prstGeom>
          <a:ln w="10160">
            <a:solidFill>
              <a:srgbClr val="D1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74536"/>
            <a:ext cx="841248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C74"/>
                </a:solidFill>
                <a:latin typeface="Times New Roman"/>
              </a:rPr>
              <a:t>MEDICAL EQUIPMENT MAINTENANCE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92" y="6565392"/>
            <a:ext cx="941832" cy="1737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6069"/>
                </a:solidFill>
                <a:latin typeface="Times New Roman"/>
              </a:rPr>
              <a:t>06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2708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3440"/>
                </a:solidFill>
                <a:latin typeface="Times New Roman"/>
              </a:rPr>
              <a:t>Plan và PlanItem là trục; equipment là điểm truy vấn lịch sử theo thiết bị.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10512"/>
            <a:ext cx="36576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86069"/>
                </a:solidFill>
                <a:latin typeface="Times New Roman"/>
              </a:rPr>
              <a:t>MASTER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44368"/>
            <a:ext cx="36576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86069"/>
                </a:solidFill>
                <a:latin typeface="Times New Roman"/>
              </a:rPr>
              <a:t>MAINTENANCE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61104"/>
            <a:ext cx="45720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86069"/>
                </a:solidFill>
                <a:latin typeface="Times New Roman"/>
              </a:rPr>
              <a:t>REPORT / APPROVAL / AUDIT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33087" y="3502152"/>
            <a:ext cx="73153" cy="0"/>
          </a:xfrm>
          <a:prstGeom prst="line">
            <a:avLst/>
          </a:prstGeom>
          <a:ln w="19050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62471" y="3502152"/>
            <a:ext cx="73153" cy="0"/>
          </a:xfrm>
          <a:prstGeom prst="line">
            <a:avLst/>
          </a:prstGeom>
          <a:ln w="19050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91856" y="3502152"/>
            <a:ext cx="73152" cy="0"/>
          </a:xfrm>
          <a:prstGeom prst="line">
            <a:avLst/>
          </a:prstGeom>
          <a:ln w="19050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870448" y="4796028"/>
            <a:ext cx="182880" cy="0"/>
          </a:xfrm>
          <a:prstGeom prst="line">
            <a:avLst/>
          </a:prstGeom>
          <a:ln w="19050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134355" y="2514600"/>
            <a:ext cx="2276857" cy="667512"/>
          </a:xfrm>
          <a:prstGeom prst="line">
            <a:avLst/>
          </a:prstGeom>
          <a:ln w="14604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063740" y="2514600"/>
            <a:ext cx="3172968" cy="667512"/>
          </a:xfrm>
          <a:prstGeom prst="line">
            <a:avLst/>
          </a:prstGeom>
          <a:ln w="14604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915667" y="3822191"/>
            <a:ext cx="1289305" cy="667513"/>
          </a:xfrm>
          <a:prstGeom prst="line">
            <a:avLst/>
          </a:prstGeom>
          <a:ln w="14604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204972" y="3822191"/>
            <a:ext cx="1408176" cy="667513"/>
          </a:xfrm>
          <a:prstGeom prst="line">
            <a:avLst/>
          </a:prstGeom>
          <a:ln w="14604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4613148" y="3822191"/>
            <a:ext cx="521207" cy="667513"/>
          </a:xfrm>
          <a:prstGeom prst="line">
            <a:avLst/>
          </a:prstGeom>
          <a:ln w="14604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275588" y="2770632"/>
            <a:ext cx="0" cy="411480"/>
          </a:xfrm>
          <a:prstGeom prst="line">
            <a:avLst/>
          </a:prstGeom>
          <a:ln w="14604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75588" y="2770632"/>
            <a:ext cx="3858768" cy="0"/>
          </a:xfrm>
          <a:prstGeom prst="line">
            <a:avLst/>
          </a:prstGeom>
          <a:ln w="14604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134356" y="2770632"/>
            <a:ext cx="0" cy="411480"/>
          </a:xfrm>
          <a:prstGeom prst="line">
            <a:avLst/>
          </a:prstGeom>
          <a:ln w="14604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063740" y="3822191"/>
            <a:ext cx="0" cy="219457"/>
          </a:xfrm>
          <a:prstGeom prst="line">
            <a:avLst/>
          </a:prstGeom>
          <a:ln w="14604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63740" y="4041648"/>
            <a:ext cx="3858768" cy="0"/>
          </a:xfrm>
          <a:prstGeom prst="line">
            <a:avLst/>
          </a:prstGeom>
          <a:ln w="14604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922508" y="3822191"/>
            <a:ext cx="0" cy="219457"/>
          </a:xfrm>
          <a:prstGeom prst="line">
            <a:avLst/>
          </a:prstGeom>
          <a:ln w="14604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134356" y="3822191"/>
            <a:ext cx="0" cy="475489"/>
          </a:xfrm>
          <a:prstGeom prst="line">
            <a:avLst/>
          </a:prstGeom>
          <a:ln w="14604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34356" y="4297680"/>
            <a:ext cx="4873752" cy="0"/>
          </a:xfrm>
          <a:prstGeom prst="line">
            <a:avLst/>
          </a:prstGeom>
          <a:ln w="14604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008108" y="4297680"/>
            <a:ext cx="0" cy="192024"/>
          </a:xfrm>
          <a:prstGeom prst="line">
            <a:avLst/>
          </a:prstGeom>
          <a:ln w="14604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94360" y="1993392"/>
            <a:ext cx="233172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" y="2066544"/>
            <a:ext cx="2221991" cy="374903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43440"/>
                </a:solidFill>
                <a:latin typeface="Times New Roman"/>
              </a:rPr>
              <a:t>department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19856" y="1993392"/>
            <a:ext cx="233172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2066544"/>
            <a:ext cx="2221991" cy="374903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43440"/>
                </a:solidFill>
                <a:latin typeface="Times New Roman"/>
              </a:rPr>
              <a:t>user_account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45352" y="1993392"/>
            <a:ext cx="233172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0216" y="2066544"/>
            <a:ext cx="2221991" cy="374903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43440"/>
                </a:solidFill>
                <a:latin typeface="Times New Roman"/>
              </a:rPr>
              <a:t>equipment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70848" y="1993392"/>
            <a:ext cx="233172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25712" y="2066544"/>
            <a:ext cx="2221991" cy="374903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43440"/>
                </a:solidFill>
                <a:latin typeface="Times New Roman"/>
              </a:rPr>
              <a:t>service_provider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7472" y="3182112"/>
            <a:ext cx="1856231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2336" y="3255264"/>
            <a:ext cx="1746503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43440"/>
                </a:solidFill>
                <a:latin typeface="Times New Roman"/>
              </a:rPr>
              <a:t>maintenance_coverage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76856" y="3182112"/>
            <a:ext cx="1856231" cy="640080"/>
          </a:xfrm>
          <a:prstGeom prst="roundRect">
            <a:avLst>
              <a:gd name="adj" fmla="val 8000"/>
            </a:avLst>
          </a:prstGeom>
          <a:solidFill>
            <a:srgbClr val="F2FAFA"/>
          </a:solidFill>
          <a:ln w="9525">
            <a:solidFill>
              <a:srgbClr val="0F7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31720" y="3255264"/>
            <a:ext cx="1746503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43440"/>
                </a:solidFill>
                <a:latin typeface="Times New Roman"/>
              </a:rPr>
              <a:t>maintenance_plan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06240" y="3182112"/>
            <a:ext cx="1856231" cy="640080"/>
          </a:xfrm>
          <a:prstGeom prst="roundRect">
            <a:avLst>
              <a:gd name="adj" fmla="val 8000"/>
            </a:avLst>
          </a:prstGeom>
          <a:solidFill>
            <a:srgbClr val="F2FAFA"/>
          </a:solidFill>
          <a:ln w="9525">
            <a:solidFill>
              <a:srgbClr val="0F7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61103" y="3255264"/>
            <a:ext cx="1746503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43440"/>
                </a:solidFill>
                <a:latin typeface="Times New Roman"/>
              </a:rPr>
              <a:t>maintenance_plan_item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35624" y="3182112"/>
            <a:ext cx="1856231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90488" y="3255264"/>
            <a:ext cx="1746503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43440"/>
                </a:solidFill>
                <a:latin typeface="Times New Roman"/>
              </a:rPr>
              <a:t>maintenance_execution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65008" y="3182112"/>
            <a:ext cx="1856231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19872" y="3255264"/>
            <a:ext cx="1746503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243440"/>
                </a:solidFill>
                <a:latin typeface="Times New Roman"/>
              </a:rPr>
              <a:t>maintenance_progress_log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94392" y="3182112"/>
            <a:ext cx="1856231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49256" y="3255264"/>
            <a:ext cx="1746503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43440"/>
                </a:solidFill>
                <a:latin typeface="Times New Roman"/>
              </a:rPr>
              <a:t>acceptance_record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4489704"/>
            <a:ext cx="2514600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" y="4562856"/>
            <a:ext cx="2404872" cy="4663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43440"/>
                </a:solidFill>
                <a:latin typeface="Times New Roman"/>
              </a:rPr>
              <a:t>maintenance_report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355848" y="4489704"/>
            <a:ext cx="2514600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10712" y="4562856"/>
            <a:ext cx="2404872" cy="4663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43440"/>
                </a:solidFill>
                <a:latin typeface="Times New Roman"/>
              </a:rPr>
              <a:t>approval_request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53328" y="4489704"/>
            <a:ext cx="2514600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08192" y="4562856"/>
            <a:ext cx="2404872" cy="4663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43440"/>
                </a:solidFill>
                <a:latin typeface="Times New Roman"/>
              </a:rPr>
              <a:t>approval_action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750808" y="4489704"/>
            <a:ext cx="2514600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05672" y="4562856"/>
            <a:ext cx="2404872" cy="4663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43440"/>
                </a:solidFill>
                <a:latin typeface="Times New Roman"/>
              </a:rPr>
              <a:t>status_history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232" y="5568696"/>
            <a:ext cx="10881360" cy="47548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E6C74"/>
                </a:solidFill>
                <a:latin typeface="Times New Roman"/>
              </a:rPr>
              <a:t>Sơ đồ chỉ hiện các liên kết tiêu biểu; ERD nguồn mô tả đủ 31 khóa ngoại và bội số quan hệ.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572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43440"/>
                </a:solidFill>
                <a:latin typeface="Times New Roman"/>
              </a:rPr>
              <a:t>PLAN VÀ PLAN ITEM: QUYẾT ĐỊNH CỐT LÕI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13816"/>
            <a:ext cx="1042416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E6C74"/>
                </a:solidFill>
                <a:latin typeface="Times New Roman"/>
              </a:rPr>
              <a:t>One campaign, many independently tracked devices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88720"/>
            <a:ext cx="11064240" cy="0"/>
          </a:xfrm>
          <a:prstGeom prst="line">
            <a:avLst/>
          </a:prstGeom>
          <a:ln w="12700">
            <a:solidFill>
              <a:srgbClr val="D1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519672"/>
            <a:ext cx="11064240" cy="0"/>
          </a:xfrm>
          <a:prstGeom prst="line">
            <a:avLst/>
          </a:prstGeom>
          <a:ln w="10160">
            <a:solidFill>
              <a:srgbClr val="D1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74536"/>
            <a:ext cx="841248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C74"/>
                </a:solidFill>
                <a:latin typeface="Times New Roman"/>
              </a:rPr>
              <a:t>MEDICAL EQUIPMENT MAINTENANCE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92" y="6565392"/>
            <a:ext cx="941832" cy="1737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6069"/>
                </a:solidFill>
                <a:latin typeface="Times New Roman"/>
              </a:rPr>
              <a:t>07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2708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3440"/>
                </a:solidFill>
                <a:latin typeface="Times New Roman"/>
              </a:rPr>
              <a:t>Một kế hoạch có nhiều thiết bị; từng thiết bị có lịch và trạng thái xử lý riêng.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286000"/>
            <a:ext cx="3063240" cy="2340864"/>
          </a:xfrm>
          <a:prstGeom prst="roundRect">
            <a:avLst>
              <a:gd name="adj" fmla="val 8000"/>
            </a:avLst>
          </a:prstGeom>
          <a:solidFill>
            <a:srgbClr val="F2FAFA"/>
          </a:solidFill>
          <a:ln w="9525">
            <a:solidFill>
              <a:srgbClr val="0F7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9464"/>
            <a:ext cx="2560320" cy="3749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3440"/>
                </a:solidFill>
                <a:latin typeface="Times New Roman"/>
              </a:rPr>
              <a:t>MAINTENANCE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256032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43440"/>
                </a:solidFill>
                <a:latin typeface="Times New Roman"/>
              </a:rPr>
              <a:t>Một đợt bảo trì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606040" cy="3383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E6C74"/>
                </a:solidFill>
                <a:latin typeface="Times New Roman"/>
              </a:rPr>
              <a:t>Trạng thái chung · 8 giá trị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13048" y="3438144"/>
            <a:ext cx="548640" cy="0"/>
          </a:xfrm>
          <a:prstGeom prst="line">
            <a:avLst/>
          </a:prstGeom>
          <a:ln w="22860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361688" y="2386584"/>
            <a:ext cx="0" cy="2103120"/>
          </a:xfrm>
          <a:prstGeom prst="line">
            <a:avLst/>
          </a:prstGeom>
          <a:ln w="22860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361688" y="2551176"/>
            <a:ext cx="475488" cy="0"/>
          </a:xfrm>
          <a:prstGeom prst="line">
            <a:avLst/>
          </a:prstGeom>
          <a:ln w="22860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846320" y="2157984"/>
            <a:ext cx="6537960" cy="795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65776" y="2258568"/>
            <a:ext cx="2807208" cy="3566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43440"/>
                </a:solidFill>
                <a:latin typeface="Times New Roman"/>
              </a:rPr>
              <a:t>PLAN ITEM · Thiết bị 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5" y="2295144"/>
            <a:ext cx="2770632" cy="457200"/>
          </a:xfrm>
          <a:prstGeom prst="roundRect">
            <a:avLst>
              <a:gd name="adj" fmla="val 8000"/>
            </a:avLst>
          </a:prstGeom>
          <a:solidFill>
            <a:srgbClr val="F2FAFA"/>
          </a:solidFill>
          <a:ln w="9525">
            <a:solidFill>
              <a:srgbClr val="0F7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2377439"/>
            <a:ext cx="2596896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86069"/>
                </a:solidFill>
                <a:latin typeface="Times New Roman"/>
              </a:rPr>
              <a:t>COMPLETED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361688" y="3593592"/>
            <a:ext cx="475488" cy="0"/>
          </a:xfrm>
          <a:prstGeom prst="line">
            <a:avLst/>
          </a:prstGeom>
          <a:ln w="22860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846320" y="3200400"/>
            <a:ext cx="6537960" cy="795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65776" y="3300984"/>
            <a:ext cx="2807208" cy="3566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43440"/>
                </a:solidFill>
                <a:latin typeface="Times New Roman"/>
              </a:rPr>
              <a:t>PLAN ITEM · Thiết bị 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66175" y="3337560"/>
            <a:ext cx="2770632" cy="457200"/>
          </a:xfrm>
          <a:prstGeom prst="roundRect">
            <a:avLst>
              <a:gd name="adj" fmla="val 8000"/>
            </a:avLst>
          </a:prstGeom>
          <a:solidFill>
            <a:srgbClr val="F2FAFA"/>
          </a:solidFill>
          <a:ln w="9525">
            <a:solidFill>
              <a:srgbClr val="0F7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2" y="3419856"/>
            <a:ext cx="2596896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86069"/>
                </a:solidFill>
                <a:latin typeface="Times New Roman"/>
              </a:rPr>
              <a:t>REWORK_REQUIRED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361688" y="4636007"/>
            <a:ext cx="475488" cy="0"/>
          </a:xfrm>
          <a:prstGeom prst="line">
            <a:avLst/>
          </a:prstGeom>
          <a:ln w="22860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846320" y="4242816"/>
            <a:ext cx="6537960" cy="795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65776" y="4343400"/>
            <a:ext cx="2807208" cy="3566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43440"/>
                </a:solidFill>
                <a:latin typeface="Times New Roman"/>
              </a:rPr>
              <a:t>PLAN ITEM · Thiết bị 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6175" y="4379976"/>
            <a:ext cx="2770632" cy="457200"/>
          </a:xfrm>
          <a:prstGeom prst="roundRect">
            <a:avLst>
              <a:gd name="adj" fmla="val 8000"/>
            </a:avLst>
          </a:prstGeom>
          <a:solidFill>
            <a:srgbClr val="F2FAFA"/>
          </a:solidFill>
          <a:ln w="9525">
            <a:solidFill>
              <a:srgbClr val="0F7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2" y="4462272"/>
            <a:ext cx="2596896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86069"/>
                </a:solidFill>
                <a:latin typeface="Times New Roman"/>
              </a:rPr>
              <a:t>PLANNED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" y="5596128"/>
            <a:ext cx="10780776" cy="47548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E6C74"/>
                </a:solidFill>
                <a:latin typeface="Times New Roman"/>
              </a:rPr>
              <a:t>equipment 1 → N plan_item: cùng một thiết bị có thể xuất hiện qua nhiều kế hoạch; UC12 ghép lại thành lịch sử.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572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43440"/>
                </a:solidFill>
                <a:latin typeface="Times New Roman"/>
              </a:rPr>
              <a:t>TRẠNG THÁI, PHÊ DUYỆT VÀ TRUY VẾT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13816"/>
            <a:ext cx="1042416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E6C74"/>
                </a:solidFill>
                <a:latin typeface="Times New Roman"/>
              </a:rPr>
              <a:t>Current state plus immutable workflow evidence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88720"/>
            <a:ext cx="11064240" cy="0"/>
          </a:xfrm>
          <a:prstGeom prst="line">
            <a:avLst/>
          </a:prstGeom>
          <a:ln w="12700">
            <a:solidFill>
              <a:srgbClr val="D1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519672"/>
            <a:ext cx="11064240" cy="0"/>
          </a:xfrm>
          <a:prstGeom prst="line">
            <a:avLst/>
          </a:prstGeom>
          <a:ln w="10160">
            <a:solidFill>
              <a:srgbClr val="D1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74536"/>
            <a:ext cx="841248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C74"/>
                </a:solidFill>
                <a:latin typeface="Times New Roman"/>
              </a:rPr>
              <a:t>MEDICAL EQUIPMENT MAINTENANCE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92" y="6565392"/>
            <a:ext cx="941832" cy="1737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6069"/>
                </a:solidFill>
                <a:latin typeface="Times New Roman"/>
              </a:rPr>
              <a:t>08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2708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3440"/>
                </a:solidFill>
                <a:latin typeface="Times New Roman"/>
              </a:rPr>
              <a:t>Lưu trạng thái hiện tại để xử lý; lưu vòng duyệt và chuyển trạng thái để giải thích quá khứ.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048256"/>
            <a:ext cx="5266944" cy="960120"/>
          </a:xfrm>
          <a:prstGeom prst="roundRect">
            <a:avLst>
              <a:gd name="adj" fmla="val 8000"/>
            </a:avLst>
          </a:prstGeom>
          <a:solidFill>
            <a:srgbClr val="F2FAFA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822960" cy="484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6069"/>
                </a:solidFill>
                <a:latin typeface="Times New Roman"/>
              </a:rP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258568"/>
            <a:ext cx="3749039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43440"/>
                </a:solidFill>
                <a:latin typeface="Times New Roman"/>
              </a:rPr>
              <a:t>trạng thái MaintenancePlan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048256"/>
            <a:ext cx="5266944" cy="960120"/>
          </a:xfrm>
          <a:prstGeom prst="roundRect">
            <a:avLst>
              <a:gd name="adj" fmla="val 8000"/>
            </a:avLst>
          </a:prstGeom>
          <a:solidFill>
            <a:srgbClr val="F2FAFA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2258568"/>
            <a:ext cx="822960" cy="484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6069"/>
                </a:solidFill>
                <a:latin typeface="Times New Roman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8352" y="2258568"/>
            <a:ext cx="3758184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43440"/>
                </a:solidFill>
                <a:latin typeface="Times New Roman"/>
              </a:rPr>
              <a:t>trạng thái MaintenancePlanItem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" y="3547872"/>
            <a:ext cx="2578608" cy="1362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3767328"/>
            <a:ext cx="2350008" cy="3749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43440"/>
                </a:solidFill>
                <a:latin typeface="Times New Roman"/>
              </a:rPr>
              <a:t>Gửi duyệt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4297680"/>
            <a:ext cx="2350008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C74"/>
                </a:solidFill>
                <a:latin typeface="Times New Roman"/>
              </a:rPr>
              <a:t>Submit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82696" y="4224528"/>
            <a:ext cx="146304" cy="0"/>
          </a:xfrm>
          <a:prstGeom prst="line">
            <a:avLst/>
          </a:prstGeom>
          <a:ln w="21590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83280" y="4050791"/>
            <a:ext cx="22860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747B"/>
                </a:solidFill>
                <a:latin typeface="Times New Roman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3547872"/>
            <a:ext cx="2578608" cy="1362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F7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0168" y="3767328"/>
            <a:ext cx="2350008" cy="3749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43440"/>
                </a:solidFill>
                <a:latin typeface="Times New Roman"/>
              </a:rPr>
              <a:t>ApprovalRequest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168" y="4297680"/>
            <a:ext cx="2350008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C74"/>
                </a:solidFill>
                <a:latin typeface="Times New Roman"/>
              </a:rPr>
              <a:t>Một vòng duyệt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9048" y="4224528"/>
            <a:ext cx="146304" cy="0"/>
          </a:xfrm>
          <a:prstGeom prst="line">
            <a:avLst/>
          </a:prstGeom>
          <a:ln w="21590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99632" y="4050791"/>
            <a:ext cx="22860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747B"/>
                </a:solidFill>
                <a:latin typeface="Times New Roman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36792" y="3547872"/>
            <a:ext cx="2578608" cy="1362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F7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767328"/>
            <a:ext cx="2350008" cy="3749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43440"/>
                </a:solidFill>
                <a:latin typeface="Times New Roman"/>
              </a:rPr>
              <a:t>ApprovalAction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297680"/>
            <a:ext cx="2350008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C74"/>
                </a:solidFill>
                <a:latin typeface="Times New Roman"/>
              </a:rPr>
              <a:t>Quyết định BGĐ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915400" y="4224528"/>
            <a:ext cx="146304" cy="0"/>
          </a:xfrm>
          <a:prstGeom prst="line">
            <a:avLst/>
          </a:prstGeom>
          <a:ln w="21590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015984" y="4050791"/>
            <a:ext cx="22860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747B"/>
                </a:solidFill>
                <a:latin typeface="Times New Roman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53144" y="3547872"/>
            <a:ext cx="2578608" cy="1362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62872" y="3767328"/>
            <a:ext cx="2350008" cy="3749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43440"/>
                </a:solidFill>
                <a:latin typeface="Times New Roman"/>
              </a:rPr>
              <a:t>StatusHistory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2872" y="4297680"/>
            <a:ext cx="2350008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C74"/>
                </a:solidFill>
                <a:latin typeface="Times New Roman"/>
              </a:rPr>
              <a:t>Ai · khi nào · vì sao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5404104"/>
            <a:ext cx="10789920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E6C74"/>
                </a:solidFill>
                <a:latin typeface="Times New Roman"/>
              </a:rPr>
              <a:t>Khi cần sửa và gửi lại, tạo ApprovalRequest mới; quyết định và dấu vết cũ vẫn được giữ.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572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43440"/>
                </a:solidFill>
                <a:latin typeface="Times New Roman"/>
              </a:rPr>
              <a:t>TRIỂN KHAI BẰNG POSTGRESQL VÀ SQL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13816"/>
            <a:ext cx="1042416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E6C74"/>
                </a:solidFill>
                <a:latin typeface="Times New Roman"/>
              </a:rPr>
              <a:t>Reproducible database implementation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88720"/>
            <a:ext cx="11064240" cy="0"/>
          </a:xfrm>
          <a:prstGeom prst="line">
            <a:avLst/>
          </a:prstGeom>
          <a:ln w="12700">
            <a:solidFill>
              <a:srgbClr val="D1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519672"/>
            <a:ext cx="11064240" cy="0"/>
          </a:xfrm>
          <a:prstGeom prst="line">
            <a:avLst/>
          </a:prstGeom>
          <a:ln w="10160">
            <a:solidFill>
              <a:srgbClr val="D1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74536"/>
            <a:ext cx="841248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C74"/>
                </a:solidFill>
                <a:latin typeface="Times New Roman"/>
              </a:rPr>
              <a:t>MEDICAL EQUIPMENT MAINTENANCE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92" y="6565392"/>
            <a:ext cx="941832" cy="1737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6069"/>
                </a:solidFill>
                <a:latin typeface="Times New Roman"/>
              </a:rPr>
              <a:t>09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2708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3440"/>
                </a:solidFill>
                <a:latin typeface="Times New Roman"/>
              </a:rPr>
              <a:t>Dựng lại CSDL theo cùng một trình tự, thay vì tạo bảng thủ công qua giao diện.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2532888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468880"/>
            <a:ext cx="2276856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43440"/>
                </a:solidFill>
                <a:latin typeface="Times New Roman"/>
              </a:rPr>
              <a:t>SQL migrations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971800"/>
            <a:ext cx="2276856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C74"/>
                </a:solidFill>
                <a:latin typeface="Times New Roman"/>
              </a:rPr>
              <a:t>6 phiên bản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64408" y="2852928"/>
            <a:ext cx="173736" cy="0"/>
          </a:xfrm>
          <a:prstGeom prst="line">
            <a:avLst/>
          </a:prstGeom>
          <a:ln w="21590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92424" y="2679192"/>
            <a:ext cx="22860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747B"/>
                </a:solidFill>
                <a:latin typeface="Times New Roman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9584" y="2148840"/>
            <a:ext cx="2532888" cy="1389888"/>
          </a:xfrm>
          <a:prstGeom prst="roundRect">
            <a:avLst>
              <a:gd name="adj" fmla="val 8000"/>
            </a:avLst>
          </a:prstGeom>
          <a:solidFill>
            <a:srgbClr val="F2FAFA"/>
          </a:solidFill>
          <a:ln w="9525">
            <a:solidFill>
              <a:srgbClr val="0F7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468880"/>
            <a:ext cx="2276856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43440"/>
                </a:solidFill>
                <a:latin typeface="Times New Roman"/>
              </a:rPr>
              <a:t>PostgreSQL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71800"/>
            <a:ext cx="2276856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C74"/>
                </a:solidFill>
                <a:latin typeface="Times New Roman"/>
              </a:rPr>
              <a:t>Ràng buộc dữ liệu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62472" y="2852928"/>
            <a:ext cx="173736" cy="0"/>
          </a:xfrm>
          <a:prstGeom prst="line">
            <a:avLst/>
          </a:prstGeom>
          <a:ln w="21590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90488" y="2679192"/>
            <a:ext cx="22860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747B"/>
                </a:solidFill>
                <a:latin typeface="Times New Roman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2148840"/>
            <a:ext cx="2532888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2468880"/>
            <a:ext cx="2276856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43440"/>
                </a:solidFill>
                <a:latin typeface="Times New Roman"/>
              </a:rPr>
              <a:t>Seed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971800"/>
            <a:ext cx="2276856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C74"/>
                </a:solidFill>
                <a:latin typeface="Times New Roman"/>
              </a:rPr>
              <a:t>6 file có thứ tự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60536" y="2852928"/>
            <a:ext cx="173736" cy="0"/>
          </a:xfrm>
          <a:prstGeom prst="line">
            <a:avLst/>
          </a:prstGeom>
          <a:ln w="21590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988552" y="2679192"/>
            <a:ext cx="22860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747B"/>
                </a:solidFill>
                <a:latin typeface="Times New Roman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25712" y="2148840"/>
            <a:ext cx="2532888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728" y="2468880"/>
            <a:ext cx="2276856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43440"/>
                </a:solidFill>
                <a:latin typeface="Times New Roman"/>
              </a:rPr>
              <a:t>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2971800"/>
            <a:ext cx="2276856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C74"/>
                </a:solidFill>
                <a:latin typeface="Times New Roman"/>
              </a:rPr>
              <a:t>Kiểm tra workflow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4078224"/>
            <a:ext cx="5193792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4297680"/>
            <a:ext cx="4736592" cy="3017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86069"/>
                </a:solidFill>
                <a:latin typeface="Times New Roman"/>
              </a:rPr>
              <a:t>VÌ SAO POSTGRESQL?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4690872"/>
            <a:ext cx="4736592" cy="484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43440"/>
                </a:solidFill>
                <a:latin typeface="Times New Roman"/>
              </a:rPr>
              <a:t>FK, CHECK, UNIQUE và transaction giữ các ràng buộc cục bộ.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078224"/>
            <a:ext cx="5193792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297680"/>
            <a:ext cx="4736592" cy="3017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86069"/>
                </a:solidFill>
                <a:latin typeface="Times New Roman"/>
              </a:rPr>
              <a:t>VÌ SAO MIGRATION SQL?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690872"/>
            <a:ext cx="4736592" cy="484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43440"/>
                </a:solidFill>
                <a:latin typeface="Times New Roman"/>
              </a:rPr>
              <a:t>Có thể tái dựng và review; sẵn đường tích hợp Flyway sau.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5760720"/>
            <a:ext cx="10671048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E6C74"/>
                </a:solidFill>
                <a:latin typeface="Times New Roman"/>
              </a:rPr>
              <a:t>Quy trình hiện tại: reset → migrate → seed → validate. Chưa triển khai Spring Boot hoặc Flyway.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572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43440"/>
                </a:solidFill>
                <a:latin typeface="Times New Roman"/>
              </a:rPr>
              <a:t>DEMO DATA ĐƯỢC TẠO NHƯ THẾ NÀO?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13816"/>
            <a:ext cx="1042416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E6C74"/>
                </a:solidFill>
                <a:latin typeface="Times New Roman"/>
              </a:rPr>
              <a:t>Public product labels, synthetic operations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88720"/>
            <a:ext cx="11064240" cy="0"/>
          </a:xfrm>
          <a:prstGeom prst="line">
            <a:avLst/>
          </a:prstGeom>
          <a:ln w="12700">
            <a:solidFill>
              <a:srgbClr val="D1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519672"/>
            <a:ext cx="11064240" cy="0"/>
          </a:xfrm>
          <a:prstGeom prst="line">
            <a:avLst/>
          </a:prstGeom>
          <a:ln w="10160">
            <a:solidFill>
              <a:srgbClr val="D1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74536"/>
            <a:ext cx="841248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C74"/>
                </a:solidFill>
                <a:latin typeface="Times New Roman"/>
              </a:rPr>
              <a:t>MEDICAL EQUIPMENT MAINTENANCE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92" y="6565392"/>
            <a:ext cx="941832" cy="1737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6069"/>
                </a:solidFill>
                <a:latin typeface="Times New Roman"/>
              </a:rPr>
              <a:t>10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2708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3440"/>
                </a:solidFill>
                <a:latin typeface="Times New Roman"/>
              </a:rPr>
              <a:t>Dữ liệu đủ để demo, nhưng không phải dữ liệu vận hành của bệnh viện.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02536"/>
            <a:ext cx="2487168" cy="941832"/>
          </a:xfrm>
          <a:prstGeom prst="roundRect">
            <a:avLst>
              <a:gd name="adj" fmla="val 8000"/>
            </a:avLst>
          </a:prstGeom>
          <a:solidFill>
            <a:srgbClr val="F2FAFA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1005840" cy="4480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6069"/>
                </a:solidFill>
                <a:latin typeface="Times New Roman"/>
              </a:rPr>
              <a:t>603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2224" y="2267712"/>
            <a:ext cx="1252728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3440"/>
                </a:solidFill>
                <a:latin typeface="Times New Roman"/>
              </a:rPr>
              <a:t>bản ghi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2002536"/>
            <a:ext cx="2487168" cy="941832"/>
          </a:xfrm>
          <a:prstGeom prst="roundRect">
            <a:avLst>
              <a:gd name="adj" fmla="val 8000"/>
            </a:avLst>
          </a:prstGeom>
          <a:solidFill>
            <a:srgbClr val="F2FAFA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148840"/>
            <a:ext cx="1005840" cy="4480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6069"/>
                </a:solidFill>
                <a:latin typeface="Times New Roman"/>
              </a:rPr>
              <a:t>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267712"/>
            <a:ext cx="1252728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3440"/>
                </a:solidFill>
                <a:latin typeface="Times New Roman"/>
              </a:rPr>
              <a:t>thiết bị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002536"/>
            <a:ext cx="2487168" cy="941832"/>
          </a:xfrm>
          <a:prstGeom prst="roundRect">
            <a:avLst>
              <a:gd name="adj" fmla="val 8000"/>
            </a:avLst>
          </a:prstGeom>
          <a:solidFill>
            <a:srgbClr val="F2FAFA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40"/>
            <a:ext cx="1005840" cy="4480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6069"/>
                </a:solidFill>
                <a:latin typeface="Times New Roman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0064" y="2267712"/>
            <a:ext cx="1252728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3440"/>
                </a:solidFill>
                <a:latin typeface="Times New Roman"/>
              </a:rPr>
              <a:t>kế hoạch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9991" y="2002536"/>
            <a:ext cx="2487168" cy="941832"/>
          </a:xfrm>
          <a:prstGeom prst="roundRect">
            <a:avLst>
              <a:gd name="adj" fmla="val 8000"/>
            </a:avLst>
          </a:prstGeom>
          <a:solidFill>
            <a:srgbClr val="F2FAFA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2148840"/>
            <a:ext cx="1005840" cy="4480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6069"/>
                </a:solidFill>
                <a:latin typeface="Times New Roman"/>
              </a:rPr>
              <a:t>52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58983" y="2267712"/>
            <a:ext cx="1252728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3440"/>
                </a:solidFill>
                <a:latin typeface="Times New Roman"/>
              </a:rPr>
              <a:t>plan items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" y="3383280"/>
            <a:ext cx="5230368" cy="1728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3639312"/>
            <a:ext cx="4754880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86069"/>
                </a:solidFill>
                <a:latin typeface="Times New Roman"/>
              </a:rPr>
              <a:t>THAM KHẢO CÔNG KHAI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123944"/>
            <a:ext cx="4727448" cy="6858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43440"/>
                </a:solidFill>
                <a:latin typeface="Times New Roman"/>
              </a:rPr>
              <a:t>Tên nhà sản xuất và model đã đối chiếu từ trang sản phẩm chính thức.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83280"/>
            <a:ext cx="5230368" cy="1728216"/>
          </a:xfrm>
          <a:prstGeom prst="roundRect">
            <a:avLst>
              <a:gd name="adj" fmla="val 8000"/>
            </a:avLst>
          </a:prstGeom>
          <a:solidFill>
            <a:srgbClr val="F2FAFA"/>
          </a:solidFill>
          <a:ln w="9525">
            <a:solidFill>
              <a:srgbClr val="0F7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639312"/>
            <a:ext cx="4754880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86069"/>
                </a:solidFill>
                <a:latin typeface="Times New Roman"/>
              </a:rPr>
              <a:t>DỮ LIỆU DEMO GIẢ LẬP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23944"/>
            <a:ext cx="4727448" cy="72237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43440"/>
                </a:solidFill>
                <a:latin typeface="Times New Roman"/>
              </a:rPr>
              <a:t>Mã tài sản, serial, người dùng, nhà cung cấp, coverage và toàn bộ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5605272"/>
            <a:ext cx="10771632" cy="4206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E6C74"/>
                </a:solidFill>
                <a:latin typeface="Times New Roman"/>
              </a:rPr>
              <a:t>Không dùng dữ liệu bệnh nhân, nhân viên, hợp đồng hay lịch sử bảo trì thật.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572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43440"/>
                </a:solidFill>
                <a:latin typeface="Times New Roman"/>
              </a:rPr>
              <a:t>DATASET CHỨNG MINH NHỮNG LUỒNG NÀO?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13816"/>
            <a:ext cx="1042416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E6C74"/>
                </a:solidFill>
                <a:latin typeface="Times New Roman"/>
              </a:rPr>
              <a:t>Nine intentional demo scenarios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88720"/>
            <a:ext cx="11064240" cy="0"/>
          </a:xfrm>
          <a:prstGeom prst="line">
            <a:avLst/>
          </a:prstGeom>
          <a:ln w="12700">
            <a:solidFill>
              <a:srgbClr val="D1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519672"/>
            <a:ext cx="11064240" cy="0"/>
          </a:xfrm>
          <a:prstGeom prst="line">
            <a:avLst/>
          </a:prstGeom>
          <a:ln w="10160">
            <a:solidFill>
              <a:srgbClr val="D1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74536"/>
            <a:ext cx="841248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C74"/>
                </a:solidFill>
                <a:latin typeface="Times New Roman"/>
              </a:rPr>
              <a:t>MEDICAL EQUIPMENT MAINTENANCE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92" y="6565392"/>
            <a:ext cx="941832" cy="1737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6069"/>
                </a:solidFill>
                <a:latin typeface="Times New Roman"/>
              </a:rPr>
              <a:t>11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2708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3440"/>
                </a:solidFill>
                <a:latin typeface="Times New Roman"/>
              </a:rPr>
              <a:t>Các bản ghi được ghép thành hành trình nghiệp vụ, không tạo ngẫu nhiên để đủ số lượng.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2011680"/>
            <a:ext cx="5285232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9632" y="2011680"/>
            <a:ext cx="5285232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58568"/>
            <a:ext cx="4818888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86069"/>
                </a:solidFill>
                <a:latin typeface="Times New Roman"/>
              </a:rPr>
              <a:t>LUỒNG CHÍNH &amp; PHÊ DUYỆT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58568"/>
            <a:ext cx="4818888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86069"/>
                </a:solidFill>
                <a:latin typeface="Times New Roman"/>
              </a:rPr>
              <a:t>NGOẠI LỆ &amp; LỊCH SỬ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697480"/>
            <a:ext cx="384048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47B"/>
                </a:solidFill>
                <a:latin typeface="Times New Roman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697480"/>
            <a:ext cx="2020824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3440"/>
                </a:solidFill>
                <a:latin typeface="Times New Roman"/>
              </a:rPr>
              <a:t>FREE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2697480"/>
            <a:ext cx="2276856" cy="484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C74"/>
                </a:solidFill>
                <a:latin typeface="Times New Roman"/>
              </a:rPr>
              <a:t>Đúng nhà cung cấp hợp đồng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337560"/>
            <a:ext cx="384048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47B"/>
                </a:solidFill>
                <a:latin typeface="Times New Roman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3337560"/>
            <a:ext cx="2020824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3440"/>
                </a:solidFill>
                <a:latin typeface="Times New Roman"/>
              </a:rPr>
              <a:t>External approval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3337560"/>
            <a:ext cx="2276856" cy="484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C74"/>
                </a:solidFill>
                <a:latin typeface="Times New Roman"/>
              </a:rPr>
              <a:t>Chọn đơn vị sau khi BGĐ duyệt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977639"/>
            <a:ext cx="384048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47B"/>
                </a:solidFill>
                <a:latin typeface="Times New Roman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977639"/>
            <a:ext cx="2020824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3440"/>
                </a:solidFill>
                <a:latin typeface="Times New Roman"/>
              </a:rPr>
              <a:t>Plan revision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3977639"/>
            <a:ext cx="2276856" cy="484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C74"/>
                </a:solidFill>
                <a:latin typeface="Times New Roman"/>
              </a:rPr>
              <a:t>Giữ hai vòng gửi duyệt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617720"/>
            <a:ext cx="384048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47B"/>
                </a:solidFill>
                <a:latin typeface="Times New Roman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4617720"/>
            <a:ext cx="2020824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3440"/>
                </a:solidFill>
                <a:latin typeface="Times New Roman"/>
              </a:rPr>
              <a:t>Pending vendor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6432" y="4617720"/>
            <a:ext cx="2276856" cy="484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C74"/>
                </a:solidFill>
                <a:latin typeface="Times New Roman"/>
              </a:rPr>
              <a:t>Chưa gán đơn vị khi đang chờ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2679192"/>
            <a:ext cx="384048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47B"/>
                </a:solidFill>
                <a:latin typeface="Times New Roman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2679192"/>
            <a:ext cx="2057400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43440"/>
                </a:solidFill>
                <a:latin typeface="Times New Roman"/>
              </a:rPr>
              <a:t>Technical rework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8" y="2679192"/>
            <a:ext cx="2249424" cy="4663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E6C74"/>
                </a:solidFill>
                <a:latin typeface="Times New Roman"/>
              </a:rPr>
              <a:t>Giữ lần làm và nghiệm thu lỗi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3191256"/>
            <a:ext cx="384048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47B"/>
                </a:solidFill>
                <a:latin typeface="Times New Roman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3191256"/>
            <a:ext cx="2057400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43440"/>
                </a:solidFill>
                <a:latin typeface="Times New Roman"/>
              </a:rPr>
              <a:t>Handover failure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9408" y="3191256"/>
            <a:ext cx="2249424" cy="4663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E6C74"/>
                </a:solidFill>
                <a:latin typeface="Times New Roman"/>
              </a:rPr>
              <a:t>Không hoàn tất khi bàn giao FAIL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3703320"/>
            <a:ext cx="384048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47B"/>
                </a:solidFill>
                <a:latin typeface="Times New Roman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3703320"/>
            <a:ext cx="2057400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43440"/>
                </a:solidFill>
                <a:latin typeface="Times New Roman"/>
              </a:rPr>
              <a:t>Repair hand-off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9408" y="3703320"/>
            <a:ext cx="2249424" cy="4663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E6C74"/>
                </a:solidFill>
                <a:latin typeface="Times New Roman"/>
              </a:rPr>
              <a:t>Ghi hỏng; kết thúc phạm vi V1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7376" y="4215384"/>
            <a:ext cx="384048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47B"/>
                </a:solidFill>
                <a:latin typeface="Times New Roman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4215384"/>
            <a:ext cx="2057400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43440"/>
                </a:solidFill>
                <a:latin typeface="Times New Roman"/>
              </a:rPr>
              <a:t>UNKNOWN coverage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79408" y="4215384"/>
            <a:ext cx="2249424" cy="4663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E6C74"/>
                </a:solidFill>
                <a:latin typeface="Times New Roman"/>
              </a:rPr>
              <a:t>Không tự chuyển sang NOT_FREE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7376" y="4727448"/>
            <a:ext cx="384048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47B"/>
                </a:solidFill>
                <a:latin typeface="Times New Roman"/>
              </a:rP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6288" y="4727448"/>
            <a:ext cx="2057400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43440"/>
                </a:solidFill>
                <a:latin typeface="Times New Roman"/>
              </a:rPr>
              <a:t>UC12 history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79408" y="4727448"/>
            <a:ext cx="2249424" cy="4663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E6C74"/>
                </a:solidFill>
                <a:latin typeface="Times New Roman"/>
              </a:rPr>
              <a:t>Một thiết bị qua nhiều kế hoạch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5815584"/>
            <a:ext cx="10753344" cy="3566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E6C74"/>
                </a:solidFill>
                <a:latin typeface="Times New Roman"/>
              </a:rPr>
              <a:t>Demo queries: thiết bị theo khoa, hàng đợi duyệt, log, nghiệm thu, báo cáo và lịch sử UC12.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572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43440"/>
                </a:solidFill>
                <a:latin typeface="Times New Roman"/>
              </a:rPr>
              <a:t>CƠ SỞ DỮ LIỆU SẴN SÀNG CHO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13816"/>
            <a:ext cx="1042416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E6C74"/>
                </a:solidFill>
                <a:latin typeface="Times New Roman"/>
              </a:rPr>
              <a:t>Database-to-service handoff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88720"/>
            <a:ext cx="11064240" cy="0"/>
          </a:xfrm>
          <a:prstGeom prst="line">
            <a:avLst/>
          </a:prstGeom>
          <a:ln w="12700">
            <a:solidFill>
              <a:srgbClr val="D1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519672"/>
            <a:ext cx="11064240" cy="0"/>
          </a:xfrm>
          <a:prstGeom prst="line">
            <a:avLst/>
          </a:prstGeom>
          <a:ln w="10160">
            <a:solidFill>
              <a:srgbClr val="D1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74536"/>
            <a:ext cx="841248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C74"/>
                </a:solidFill>
                <a:latin typeface="Times New Roman"/>
              </a:rPr>
              <a:t>MEDICAL EQUIPMENT MAINTENANCE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92" y="6565392"/>
            <a:ext cx="941832" cy="1737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6069"/>
                </a:solidFill>
                <a:latin typeface="Times New Roman"/>
              </a:rPr>
              <a:t>12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2708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3440"/>
                </a:solidFill>
                <a:latin typeface="Times New Roman"/>
              </a:rPr>
              <a:t>Schema và dữ liệu đã có đường tái dựng; backend tiếp nhận các quy tắc xử lý động.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29968"/>
            <a:ext cx="5193792" cy="2167128"/>
          </a:xfrm>
          <a:prstGeom prst="roundRect">
            <a:avLst>
              <a:gd name="adj" fmla="val 8000"/>
            </a:avLst>
          </a:prstGeom>
          <a:solidFill>
            <a:srgbClr val="F2FAFA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286000"/>
            <a:ext cx="470916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86069"/>
                </a:solidFill>
                <a:latin typeface="Times New Roman"/>
              </a:rPr>
              <a:t>DATABASE ĐẢM NHIỆM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672584" cy="10241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43440"/>
                </a:solidFill>
                <a:latin typeface="Times New Roman"/>
              </a:rPr>
              <a:t>Khóa ngoại và ràng buộc cục bộ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43440"/>
                </a:solidFill>
                <a:latin typeface="Times New Roman"/>
              </a:rPr>
              <a:t>Trạng thái hiện tại, lịch sử, bằng chứng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43440"/>
                </a:solidFill>
                <a:latin typeface="Times New Roman"/>
              </a:rPr>
              <a:t>Seed và truy vấn cho API / UI 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029968"/>
            <a:ext cx="5193792" cy="2167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86000"/>
            <a:ext cx="470916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86069"/>
                </a:solidFill>
                <a:latin typeface="Times New Roman"/>
              </a:rPr>
              <a:t>BACKEND SẼ ĐẢM NHIỆM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834640"/>
            <a:ext cx="4672584" cy="10241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43440"/>
                </a:solidFill>
                <a:latin typeface="Times New Roman"/>
              </a:rPr>
              <a:t>Transition và điều kiện nghiệp vụ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43440"/>
                </a:solidFill>
                <a:latin typeface="Times New Roman"/>
              </a:rPr>
              <a:t>Phân quyền theo vai trò / khoa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43440"/>
                </a:solidFill>
                <a:latin typeface="Times New Roman"/>
              </a:rPr>
              <a:t>Transaction, API và tích hợp Flyway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0" y="3154680"/>
            <a:ext cx="173736" cy="0"/>
          </a:xfrm>
          <a:prstGeom prst="line">
            <a:avLst/>
          </a:prstGeom>
          <a:ln w="21590">
            <a:solidFill>
              <a:srgbClr val="0F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71616" y="2980944"/>
            <a:ext cx="22860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747B"/>
                </a:solidFill>
                <a:latin typeface="Times New Roman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" y="4791456"/>
            <a:ext cx="2514600" cy="868680"/>
          </a:xfrm>
          <a:prstGeom prst="roundRect">
            <a:avLst>
              <a:gd name="adj" fmla="val 8000"/>
            </a:avLst>
          </a:prstGeom>
          <a:solidFill>
            <a:srgbClr val="F5F8F9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4928616"/>
            <a:ext cx="23317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86069"/>
                </a:solidFill>
                <a:latin typeface="Times New Roman"/>
              </a:rPr>
              <a:t>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" y="5266944"/>
            <a:ext cx="23317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43440"/>
                </a:solidFill>
                <a:latin typeface="Times New Roman"/>
              </a:rPr>
              <a:t>14 bảng · 31 FK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4791456"/>
            <a:ext cx="2514600" cy="868680"/>
          </a:xfrm>
          <a:prstGeom prst="roundRect">
            <a:avLst>
              <a:gd name="adj" fmla="val 8000"/>
            </a:avLst>
          </a:prstGeom>
          <a:solidFill>
            <a:srgbClr val="F5F8F9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4928616"/>
            <a:ext cx="23317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86069"/>
                </a:solidFill>
                <a:latin typeface="Times New Roman"/>
              </a:rPr>
              <a:t>SEED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5266944"/>
            <a:ext cx="23317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43440"/>
                </a:solidFill>
                <a:latin typeface="Times New Roman"/>
              </a:rPr>
              <a:t>603 bản ghi demo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0216" y="4791456"/>
            <a:ext cx="2514600" cy="868680"/>
          </a:xfrm>
          <a:prstGeom prst="roundRect">
            <a:avLst>
              <a:gd name="adj" fmla="val 8000"/>
            </a:avLst>
          </a:prstGeom>
          <a:solidFill>
            <a:srgbClr val="F5F8F9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1656" y="4928616"/>
            <a:ext cx="23317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86069"/>
                </a:solidFill>
                <a:latin typeface="Times New Roman"/>
              </a:rPr>
              <a:t>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5266944"/>
            <a:ext cx="23317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43440"/>
                </a:solidFill>
                <a:latin typeface="Times New Roman"/>
              </a:rPr>
              <a:t>UC12 truy vấn được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9992" y="4791456"/>
            <a:ext cx="2514600" cy="868680"/>
          </a:xfrm>
          <a:prstGeom prst="roundRect">
            <a:avLst>
              <a:gd name="adj" fmla="val 8000"/>
            </a:avLst>
          </a:prstGeom>
          <a:solidFill>
            <a:srgbClr val="F5F8F9"/>
          </a:solidFill>
          <a:ln w="9525">
            <a:solidFill>
              <a:srgbClr val="D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71432" y="4928616"/>
            <a:ext cx="23317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86069"/>
                </a:solidFill>
                <a:latin typeface="Times New Roman"/>
              </a:rPr>
              <a:t>HANDOFF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2" y="5266944"/>
            <a:ext cx="23317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43440"/>
                </a:solidFill>
                <a:latin typeface="Times New Roman"/>
              </a:rPr>
              <a:t>Sẵn cho Phase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925312"/>
            <a:ext cx="10607040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C74"/>
                </a:solidFill>
                <a:latin typeface="Times New Roman"/>
              </a:rPr>
              <a:t>Bằng chứng: clean rebuild và validation đã chạy; chưa đo hiệu năng thực tế.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